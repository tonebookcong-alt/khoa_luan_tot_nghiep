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embeddedFontLst>
    <p:embeddedFont>
      <p:font typeface="Abadi" panose="020B0604020104020204" pitchFamily="34" charset="0"/>
      <p:regular r:id="rId23"/>
      <p:bold r:id="rId24"/>
      <p:italic r:id="rId25"/>
      <p:boldItalic r:id="rId26"/>
    </p:embeddedFont>
    <p:embeddedFont>
      <p:font typeface="Nobile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451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04B6A7-5197-D2CB-AD8D-612D99C4DC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D9468-0C12-630B-82C0-5D670198B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24449-10F0-443A-B65B-CFAD29EBA4B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115B4-EC00-37F0-BBCA-ADC6FBE1D3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101A6-D70B-9913-507F-341D8A9B93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696B7-E8BF-453E-AF36-B27145C1B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33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02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3776" y="594360"/>
            <a:ext cx="2596896" cy="292608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585216" y="630936"/>
            <a:ext cx="24323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KHÓA LUẬN TỐT NGHIỆP · TEAM 39 — CNTT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3776" y="10972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Phần Mềm Mua Bán Trao Đổi Điện Thoại</a:t>
            </a:r>
            <a:endParaRPr lang="en-US" sz="2750" dirty="0"/>
          </a:p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Tích Hợp AI Hỗ Trợ Định Giá Sản Phẩm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3776" y="2252892"/>
            <a:ext cx="731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Trường Đại Học Duy Tân · Khoa Công Nghệ Thông Tin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776" y="257175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GVHD: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Th.S Đoàn Hoàng Duy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Thành viên: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Ngô Tuấn Huy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              Nguyễn Lê Nguyên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·                      Lê Văn </a:t>
            </a:r>
            <a:r>
              <a:rPr lang="en-US" sz="11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Toàn</a:t>
            </a:r>
            <a:endParaRPr lang="en-US" sz="11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               Lê Đức Trọng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7919" y="3944532"/>
            <a:ext cx="731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Đà Nẵng, 05/2026</a:t>
            </a:r>
            <a:endParaRPr lang="en-US" sz="1100" dirty="0"/>
          </a:p>
        </p:txBody>
      </p:sp>
      <p:pic>
        <p:nvPicPr>
          <p:cNvPr id="10" name="Picture 9" descr="logo-duyt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74320"/>
            <a:ext cx="8686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67873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Nội Dung Trình Bày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27138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7360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Lý do chọn đề tài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2842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27138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4642842" y="1736080"/>
            <a:ext cx="1839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 &amp; Nhiệm vụ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427461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536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Tính mới của đề tài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427461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2"/>
          <p:cNvSpPr/>
          <p:nvPr/>
        </p:nvSpPr>
        <p:spPr>
          <a:xfrm>
            <a:off x="4642842" y="2536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Công nghệ sử dụng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Kiến trúc hệ thống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8"/>
          <p:cNvSpPr/>
          <p:nvPr/>
        </p:nvSpPr>
        <p:spPr>
          <a:xfrm>
            <a:off x="4642842" y="3336727"/>
            <a:ext cx="21800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Cơ chế định giá AI (Core)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6119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4028108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3" name="Text 21"/>
          <p:cNvSpPr/>
          <p:nvPr/>
        </p:nvSpPr>
        <p:spPr>
          <a:xfrm>
            <a:off x="496119" y="41370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Demo chương trình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4028108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6" name="Text 24"/>
          <p:cNvSpPr/>
          <p:nvPr/>
        </p:nvSpPr>
        <p:spPr>
          <a:xfrm>
            <a:off x="4642842" y="4137050"/>
            <a:ext cx="32859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Kết quả – Hạn chế – Hướng phát triển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45877"/>
            <a:ext cx="487769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Vấn Đề Thị Trường Điện Thoại Cũ Đang Tồn Tại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18654" y="1244798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4366" y="1244798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6" name="Text 3"/>
          <p:cNvSpPr/>
          <p:nvPr/>
        </p:nvSpPr>
        <p:spPr>
          <a:xfrm>
            <a:off x="595387" y="1378669"/>
            <a:ext cx="195917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🔍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Thiếu minh bạch giá cả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5387" y="1626022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Cùng một dòng máy, giá rao chênh nhau </a:t>
            </a: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30–50%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Người mua không có công cụ tham chiếu khách quan.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8654" y="2213521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4366" y="2213521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595387" y="2347392"/>
            <a:ext cx="279744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📷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Không kiểm chứng tình trạng máy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5387" y="2594744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Mô tả "máy 99%, không trầy" chỉ qua ảnh — người mua dễ bị lừa khi gặp trực tiếp.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8654" y="3182243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4366" y="3182243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14" name="Text 11"/>
          <p:cNvSpPr/>
          <p:nvPr/>
        </p:nvSpPr>
        <p:spPr>
          <a:xfrm>
            <a:off x="595387" y="3316114"/>
            <a:ext cx="216314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💬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Quy trình giao dịch rời rạc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5387" y="3563466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Thương lượng qua nhiều kênh (Zalo/Facebook/SĐT), không có lịch sử tập trung hay cơ chế bảo vệ người mua.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318" y="4294287"/>
            <a:ext cx="436944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BF71A2-6B92-2DF1-B2A5-1D18B3071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218" y="891704"/>
            <a:ext cx="3632042" cy="3360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1073721"/>
            <a:ext cx="59826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 &amp; Nhiệm Vụ Nghiên Cứu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729308"/>
            <a:ext cx="4107135" cy="2340471"/>
          </a:xfrm>
          <a:prstGeom prst="roundRect">
            <a:avLst>
              <a:gd name="adj" fmla="val 4361"/>
            </a:avLst>
          </a:prstGeom>
          <a:solidFill>
            <a:srgbClr val="1B54D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871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234282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Xây dựng nền tảng giao dịch trực tuyến thuận tiện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Phát triển AI định giá thời gian thực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Tích hợp Computer Vision đánh giá tình trạng máy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Đảm bảo kết nối hai bên qua Chat Real-time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Ứng dụng quy trình phát triển phần mềm hiện đại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871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Nhiệm vụ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2342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Phân tích thị trường máy cũ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Triển khai AI Agent (LangChain.js) thu thập giá thị trường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 mô hình YOLOv11 nhận diện model &amp; lỗi ngoại quan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Thiết kế công thức định giá có trọng số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Đóng gói triển khai Docker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slide-background.png">
            <a:extLst>
              <a:ext uri="{FF2B5EF4-FFF2-40B4-BE49-F238E27FC236}">
                <a16:creationId xmlns:a16="http://schemas.microsoft.com/office/drawing/2014/main" id="{E4ACA998-C84D-6885-4C02-FD12E4C8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4977" y="347365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 Điểm Khác Biệt So Với Nền Tảng Hiện Có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964977" y="1332346"/>
            <a:ext cx="2359372" cy="1978893"/>
          </a:xfrm>
          <a:prstGeom prst="roundRect">
            <a:avLst>
              <a:gd name="adj" fmla="val 268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945" y="1463315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0125" y="1567420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95945" y="1954522"/>
            <a:ext cx="18877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Agent Thời Gian Thực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095945" y="2219213"/>
            <a:ext cx="209743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Tác tử thông minh (LangChain.js) tự động crawl giá từ Chợ Tốt, hội nhóm mạng xã hội. Cache Redis TTL 24h.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436789" y="1332346"/>
            <a:ext cx="2359447" cy="1978893"/>
          </a:xfrm>
          <a:prstGeom prst="roundRect">
            <a:avLst>
              <a:gd name="adj" fmla="val 268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67757" y="1463315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1937" y="1567420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67757" y="1954522"/>
            <a:ext cx="2097509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Computer Vision Tự Huấn Luyện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67757" y="2416484"/>
            <a:ext cx="20975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YOLOv11s self-trained (~1900 ảnh), 12 class: 9 thế hệ iPhone + 3 loại lỗi. Cross-check → cảnh báo gian lận.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964977" y="3423679"/>
            <a:ext cx="4831259" cy="1399729"/>
          </a:xfrm>
          <a:prstGeom prst="roundRect">
            <a:avLst>
              <a:gd name="adj" fmla="val 3789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095945" y="3554647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0125" y="365875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95945" y="4045855"/>
            <a:ext cx="174828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Hệ Sinh Thái Khép Kín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2095945" y="4310545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 AI + Chat Real-time + Quản lý tin đăng tích hợp một nền tảng. Cảnh báo lệch model khi seller khai sai.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07355"/>
            <a:ext cx="59270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Tech Stack — Công Nghệ Sử Dụng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233860"/>
            <a:ext cx="708794" cy="850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671" y="13756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46671" y="1682130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Next.js 14 (App Router) · TypeScript · Zustand · Tailwind · shadcn/ui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084412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671" y="22261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46671" y="2532683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NestJS · TypeScript strict · JWT · OAuth2 · Socket.io · Multer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934965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671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Services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46671" y="3383235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Vision: Python FastAPI + YOLOv11s · Market: NestJS + LangChain.js Agents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785518"/>
            <a:ext cx="708794" cy="850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671" y="39272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Data &amp; Deploy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46671" y="4233788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 · MongoDB · Redis · Docker Compose · NGINX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1234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Polyglot Persistence — Vì Sao Dùng 3 Loại Database?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804764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2267917"/>
            <a:ext cx="17904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PostgreSQL (Prisma)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574429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Dữ liệu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có cấu trúc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cần ACID: User, Listing, Conversation, Message, PriceHistory. Type-safe queries, migration version control.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9651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62" y="1804764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1410" y="2267917"/>
            <a:ext cx="19559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MongoDB (Mongoose)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574429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Dữ liệu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phi cấu trúc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từ AI Agent: market_price_raw (crawl thô), ai_analysis_log (nhật ký YOLO). Schema linh hoạt, dễ mở rộng.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44133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0145" y="1804764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5892" y="22679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Redis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5892" y="257442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Cache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P_market (TTL 24h)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Rate limiting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chống brute-force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presence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track online.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4028777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BCDF7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4234309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4205957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Pattern </a:t>
            </a:r>
            <a:r>
              <a:rPr lang="en-US" sz="11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Polyglot Persistence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dùng đúng công cụ cho đúng việc — không phải một database cho tất cả.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4489" y="346770"/>
            <a:ext cx="435299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Kiến Trúc Hệ Thống Tổng Quan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140074"/>
            <a:ext cx="375962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giao tiếp với Backend qua REST API và WebSocket. Backend đóng vai trò </a:t>
            </a: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orchestrator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khi cần định giá, gọi song song 2 dịch vụ AI. Việc tách service AI ra riêng giúp </a:t>
            </a: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độc lập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ví dụ khi cần GPU thì chỉ scale service Vision.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2890763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50" y="3042568"/>
            <a:ext cx="141163" cy="112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574" y="3008933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Kiến trúc microservices cho phép từng service hoạt động và mở rộng độc lập.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49610" y="400124"/>
            <a:ext cx="543326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Phân Cấp Chức Năng &amp; User Story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92547"/>
            <a:ext cx="21193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Functional Decomposition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49610" y="1409626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 chức năng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cấp 1 ·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47 sub-functions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cấp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9610" y="1736527"/>
            <a:ext cx="1924645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2811" y="1869728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🟪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2811" y="2191569"/>
            <a:ext cx="165824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Chức năng trí tuệ nhân tạo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0639" y="1736527"/>
            <a:ext cx="1924645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23840" y="1869728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🟧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Admin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23840" y="2191569"/>
            <a:ext cx="165824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Quản trị hệ thống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610" y="2637086"/>
            <a:ext cx="3965674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2811" y="2770287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⬜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User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2811" y="3092128"/>
            <a:ext cx="369927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Buyer &amp; Seller hợp nhất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3479" y="1092547"/>
            <a:ext cx="182314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User Story Ưu Tiên Cao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33479" y="1424211"/>
            <a:ext cx="3965674" cy="2887414"/>
          </a:xfrm>
          <a:prstGeom prst="roundRect">
            <a:avLst>
              <a:gd name="adj" fmla="val 1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38241" y="1428973"/>
            <a:ext cx="3956149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66754" y="1503536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0306" y="1503536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Story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36173" y="1503536"/>
            <a:ext cx="7297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Ưu tiên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8241" y="1774031"/>
            <a:ext cx="3956149" cy="550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66754" y="1848594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0306" y="1848594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 sản phẩm bằng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36173" y="1848594"/>
            <a:ext cx="729779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8241" y="2324546"/>
            <a:ext cx="3956149" cy="5505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66754" y="2399109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0306" y="2399109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Đăng tin bán với giá AI đề xuất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36173" y="2399109"/>
            <a:ext cx="729779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8241" y="2875062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66754" y="294962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0306" y="2949625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Kiểm duyệt + Cảnh báo sai lệch model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36173" y="294962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8241" y="3416052"/>
            <a:ext cx="3956149" cy="3498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66754" y="349061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0306" y="3490615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Chat real-time mua–bán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36173" y="349061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38241" y="3765872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866754" y="384043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0306" y="3840435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Thống kê biến động giá thị trường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36173" y="384043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3479" y="4442594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 User Story · 6 tuần · Agile/Scrum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34058"/>
            <a:ext cx="791245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676549"/>
            <a:ext cx="6211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CƠ CHẾ AI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57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Pipeline Định Giá AI — 4 Bước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557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Từ ảnh upload đến giá đề xuất trong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dưới 3 giây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kết hợp thị giác máy tính, dữ liệu thị trường và công thức khấu hao thông minh.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E66F4-BB1D-09A2-7655-6E66E9783AE1}"/>
              </a:ext>
            </a:extLst>
          </p:cNvPr>
          <p:cNvSpPr txBox="1"/>
          <p:nvPr/>
        </p:nvSpPr>
        <p:spPr>
          <a:xfrm>
            <a:off x="2260775" y="2236917"/>
            <a:ext cx="4622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B6F2E-CA40-BD9F-377F-F11A96C9C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1" y="1109367"/>
            <a:ext cx="3805652" cy="2993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33834"/>
            <a:ext cx="151551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81087"/>
            <a:ext cx="133588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KIẾN TRÚC HỆ THỐNG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646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Luồng xử lý 4 bước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407" y="1422053"/>
            <a:ext cx="6339185" cy="290125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492" y="2146418"/>
            <a:ext cx="407583" cy="407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6361" y="363435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Tính giá cuối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7357" y="2147183"/>
            <a:ext cx="407583" cy="407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6456" y="351971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Phát hiện YOLOv11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5603" y="2147183"/>
            <a:ext cx="407583" cy="4075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64702" y="351971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Lấy P_market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5697" y="2147183"/>
            <a:ext cx="407583" cy="4075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40341" y="351971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Tải ảnh &amp; Thông số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96119" y="448277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Kết quả trả về gồm: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P_final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damageBreakdown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confidenceScore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và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priceRange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P_final × [0.92, 1.08].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9610" y="415900"/>
            <a:ext cx="1152525" cy="243185"/>
          </a:xfrm>
          <a:prstGeom prst="roundRect">
            <a:avLst>
              <a:gd name="adj" fmla="val 17751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391" y="459135"/>
            <a:ext cx="98896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THỊ GIÁC MÁY TÍNH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705594"/>
            <a:ext cx="540595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YOLOv11s — Self-trained, 12 Classes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17196" y="1398017"/>
            <a:ext cx="1649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9 Generation Classes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17196" y="1715095"/>
            <a:ext cx="268188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Gom theo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"thế hệ thị giác"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iPhone 12/13/14 base nhìn giống hệt nhau từ ảnh, không thể phân biệt độc lập.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7196" y="24192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 Damage Classes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17196" y="2736354"/>
            <a:ext cx="2681883" cy="106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scratch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w = 0.05–0.10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physical_damage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(nứt, móp) — w = 0.25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screen_defect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(sọc, chấm màn hình) — w = 0.40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7196" y="391380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Specs kỹ thuật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17196" y="4230886"/>
            <a:ext cx="268188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~1.900 ảnh (Roboflow + Chợ Tốt) · Google Colab T4 · RTX 3050 4GB ·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mAP@50 ≥ 0.70</a:t>
            </a:r>
            <a:endParaRPr lang="en-US" sz="1000" dirty="0"/>
          </a:p>
        </p:txBody>
      </p:sp>
      <p:pic>
        <p:nvPicPr>
          <p:cNvPr id="13" name="Picture 12" descr="val_batch0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517228"/>
            <a:ext cx="5249391" cy="29746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9610" y="499542"/>
            <a:ext cx="635347" cy="243185"/>
          </a:xfrm>
          <a:prstGeom prst="roundRect">
            <a:avLst>
              <a:gd name="adj" fmla="val 17751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391" y="542776"/>
            <a:ext cx="47178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789236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Công Thức Định Giá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49610" y="1365275"/>
            <a:ext cx="8244780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365275"/>
            <a:ext cx="8244780" cy="4070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9610" y="1919660"/>
            <a:ext cx="8244780" cy="2079873"/>
          </a:xfrm>
          <a:prstGeom prst="roundRect">
            <a:avLst>
              <a:gd name="adj" fmla="val 25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4372" y="1924422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82885" y="1998985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Bộ phận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55813" y="1998985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Trọng số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38142" y="1998985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Cách xác định d_i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4372" y="2269480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82885" y="2344043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Màn hình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55813" y="2344043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0.40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38142" y="2344043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screen_defect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4372" y="2614538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82885" y="2689101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Vỏ máy + nứt vỡ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055813" y="2689101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38142" y="2689101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physical_damage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4372" y="2959596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82885" y="3034159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055813" y="3034159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38142" y="3034159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Người bán khai báo (% sức khỏe)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4372" y="3304654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82885" y="3379217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055813" y="3379217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38142" y="3379217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+ người bán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4372" y="3649712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82885" y="3724275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Khác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055813" y="3724275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38142" y="3724275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Mặc định 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49610" y="4130501"/>
            <a:ext cx="8244780" cy="513383"/>
          </a:xfrm>
          <a:prstGeom prst="roundRect">
            <a:avLst>
              <a:gd name="adj" fmla="val 10511"/>
            </a:avLst>
          </a:prstGeom>
          <a:solidFill>
            <a:srgbClr val="B6D6FC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48" y="4311923"/>
            <a:ext cx="160586" cy="12843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67073" y="4278957"/>
            <a:ext cx="76988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 Score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f(số mẫu market, độ lệch chuẩn giá, vision confidence, generation match). Áp dụng từ iPhone X trở lên.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721816"/>
            <a:ext cx="5179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62475"/>
            <a:ext cx="3383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2130" y="611460"/>
            <a:ext cx="5616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Giao Diện Trang Chủ &amp; Tin Đăng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183496" y="10544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Trang chủ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6751" y="467226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Hero banner, tin nổi bật, bộ lọc theo dòng máy / giá / tình trạng.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84010" y="11529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Card tin đăng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396798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557757-179A-A6BC-4A4F-8DC9D1AEC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756" y="1390879"/>
            <a:ext cx="4812705" cy="3281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BF8D46-1B9B-CD22-06A6-82C2F8AEE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86" y="1386883"/>
            <a:ext cx="3870572" cy="32831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83766"/>
            <a:ext cx="1476375" cy="275927"/>
          </a:xfrm>
          <a:prstGeom prst="roundRect">
            <a:avLst>
              <a:gd name="adj" fmla="val 17263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526256"/>
            <a:ext cx="13062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DEMO QUAN TRỌNG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8163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Flow Đăng Tin với AI Pricing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914971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75671" y="20567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Upload &amp; Khai báo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75671" y="2363242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Ảnh + dung lượng + % pin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765524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75671" y="2907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Phân tích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775671" y="3213795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chạy 2–3 giây, gọi P_market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16077"/>
            <a:ext cx="708794" cy="10436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75671" y="37578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Kết quả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75671" y="4064347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P_final + bounding box + breakdown + cảnh báo anti-fraud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4A2418-B72E-591C-13F2-39A55F65B6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787" y="337319"/>
            <a:ext cx="3848850" cy="44617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51172"/>
            <a:ext cx="5179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98425"/>
            <a:ext cx="3383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476300" y="367641"/>
            <a:ext cx="63200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Chat Real-time &amp; Admin Dashboard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24339" y="17315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💬</a:t>
            </a: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Chat Real-time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09475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Socket.io WebSocket — độ trễ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&lt; 100ms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lưu PostgreSQL ngay. Hỗ trợ ảnh, typing indicator, unread badge. Chat Admin + Block user vi phạm.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143771"/>
            <a:ext cx="18837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📊</a:t>
            </a: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Admin Dashboard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50698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KPI cards, biểu đồ biến động giá 30 ngày, phân bố tin theo trạng thái. Quản lý user, duyệt tin, điều chỉnh hệ số khấu hao.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F6D40C-33C6-9D02-E8B4-43CCDA535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03" y="767811"/>
            <a:ext cx="5042285" cy="22476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5D6B4A-8869-7048-9BD5-50E12B195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02" y="2888368"/>
            <a:ext cx="5042286" cy="21444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2030" y="194890"/>
            <a:ext cx="951949" cy="457200"/>
          </a:xfrm>
          <a:prstGeom prst="roundRect">
            <a:avLst>
              <a:gd name="adj" fmla="val 21567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09766" y="454223"/>
            <a:ext cx="678954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KẾT QUẢ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583180" y="614855"/>
            <a:ext cx="31431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Những Công Việc Đã Hoàn Thành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197510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2029968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backlog hoàn thành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23744" y="1097280"/>
            <a:ext cx="197510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23744" y="1783080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Docker Services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23744" y="2029968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Đóng gói toàn bộ hệ thống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36008" y="1097280"/>
            <a:ext cx="197510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36008" y="1783080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36008" y="2029968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17/17 + 35 testcase AI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48272" y="1097280"/>
            <a:ext cx="197510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&lt;3s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48272" y="1783080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Latency P95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48272" y="2029968"/>
            <a:ext cx="1975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Endpoint định giá AI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2697480"/>
            <a:ext cx="4069080" cy="960120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594360" y="2971800"/>
            <a:ext cx="411480" cy="411480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" y="308610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88720" y="2971800"/>
            <a:ext cx="1645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Backend + Frontend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1188720" y="3264408"/>
            <a:ext cx="3154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NestJS + Next.js, TypeScript strict</a:t>
            </a:r>
            <a:endParaRPr lang="en-US" sz="550" dirty="0"/>
          </a:p>
        </p:txBody>
      </p:sp>
      <p:sp>
        <p:nvSpPr>
          <p:cNvPr id="23" name="Shape 19"/>
          <p:cNvSpPr/>
          <p:nvPr/>
        </p:nvSpPr>
        <p:spPr>
          <a:xfrm>
            <a:off x="4663440" y="2697480"/>
            <a:ext cx="4069080" cy="960120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4846320" y="2971800"/>
            <a:ext cx="411480" cy="411480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0620" y="308610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40680" y="2971800"/>
            <a:ext cx="1645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Core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5440680" y="3264408"/>
            <a:ext cx="3154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YOLOv11s 12 class + AI Agent scraping</a:t>
            </a:r>
            <a:endParaRPr lang="en-US" sz="550" dirty="0"/>
          </a:p>
        </p:txBody>
      </p:sp>
      <p:sp>
        <p:nvSpPr>
          <p:cNvPr id="28" name="Shape 23"/>
          <p:cNvSpPr/>
          <p:nvPr/>
        </p:nvSpPr>
        <p:spPr>
          <a:xfrm>
            <a:off x="411480" y="3840480"/>
            <a:ext cx="4069080" cy="960120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594360" y="4114800"/>
            <a:ext cx="411480" cy="411480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" y="4229100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88720" y="4114800"/>
            <a:ext cx="1645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Giao diện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1188720" y="4407408"/>
            <a:ext cx="3154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Tailwind + shadcn/ui, responsive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4663440" y="3840480"/>
            <a:ext cx="4069080" cy="960120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4846320" y="4114800"/>
            <a:ext cx="411480" cy="411480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0620" y="4229100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40680" y="4114800"/>
            <a:ext cx="1645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Dữ liệu Polyglot</a:t>
            </a:r>
            <a:endParaRPr lang="en-US" sz="650" dirty="0"/>
          </a:p>
        </p:txBody>
      </p:sp>
      <p:sp>
        <p:nvSpPr>
          <p:cNvPr id="37" name="Text 30"/>
          <p:cNvSpPr/>
          <p:nvPr/>
        </p:nvSpPr>
        <p:spPr>
          <a:xfrm>
            <a:off x="5440680" y="4407408"/>
            <a:ext cx="3154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 + MongoDB + Redis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27336" y="325041"/>
            <a:ext cx="575667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43591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ĐÁNH GIÁ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27135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Hạn Chế Hiện Tại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4772133" y="1376292"/>
            <a:ext cx="148790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5 Hạn chế cần cải tiến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709071" y="1712566"/>
            <a:ext cx="3612207" cy="90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📱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Dataset chỉ iPhone — chưa có Android/Samsung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💰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Định giá từ iPhone X trở lên — dòng cũ dữ liệu nhiễu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🔋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Pin không detect từ ảnh — phụ thuộc khai báo seller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🌐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Market scraping chưa crawl real-time liên tục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💳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Chưa có escrow — người dùng tự chốt off-platform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F366DA-8ED9-FFFF-C4E8-5B14D1600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02" y="894606"/>
            <a:ext cx="3875328" cy="3834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1871" y="361280"/>
            <a:ext cx="723974" cy="237976"/>
          </a:xfrm>
          <a:prstGeom prst="roundRect">
            <a:avLst>
              <a:gd name="adj" fmla="val 17827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387" y="403920"/>
            <a:ext cx="562942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TƯƠNG LAI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44203"/>
            <a:ext cx="437852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Hướng Phát Triển &amp; Cảm ơn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441871" y="2358926"/>
            <a:ext cx="8260259" cy="1428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6" name="Shape 4"/>
          <p:cNvSpPr/>
          <p:nvPr/>
        </p:nvSpPr>
        <p:spPr>
          <a:xfrm>
            <a:off x="2464594" y="1980195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7" name="Shape 5"/>
          <p:cNvSpPr/>
          <p:nvPr/>
        </p:nvSpPr>
        <p:spPr>
          <a:xfrm>
            <a:off x="2329755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046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82651" y="120736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077" y="1472059"/>
            <a:ext cx="380747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Mở rộng dataset Android (Samsung, Xiaomi, OPPO) + Tích hợp escrow VNPay/Momo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64782" y="2358889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9944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7234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82839" y="28639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8265" y="3128590"/>
            <a:ext cx="380747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Agent market-scraping thực tế + API cross-check pin/IMEI (iCheck)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64970" y="1980195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0132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7422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83027" y="120736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8453" y="1472059"/>
            <a:ext cx="380747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app React Native + Mở rộng pricing cho iPhone đời cũ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1871" y="3659088"/>
            <a:ext cx="8260259" cy="9451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1871" y="3878163"/>
            <a:ext cx="7390358" cy="5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Cảm ơn quý thầy cô đã lắng nghe!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41871" y="4591273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Chúng em sẵn sàng trả lời câu hỏi —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Q&amp;A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1462</Words>
  <Application>Microsoft Office PowerPoint</Application>
  <PresentationFormat>On-screen Show (16:9)</PresentationFormat>
  <Paragraphs>222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Abadi</vt:lpstr>
      <vt:lpstr>Calibri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Tuan Huy</dc:creator>
  <cp:lastModifiedBy>Ngô Huy</cp:lastModifiedBy>
  <cp:revision>12</cp:revision>
  <dcterms:created xsi:type="dcterms:W3CDTF">2026-05-15T07:20:42Z</dcterms:created>
  <dcterms:modified xsi:type="dcterms:W3CDTF">2026-05-15T09:06:57Z</dcterms:modified>
</cp:coreProperties>
</file>